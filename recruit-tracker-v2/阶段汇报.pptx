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914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4AF6C"/>
                </a:solidFill>
                <a:latin typeface="Arial"/>
              </a:defRPr>
            </a:pPr>
            <a:r>
              <a:t>内部汇报 · 2026.07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招聘管理系统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BBBBB"/>
                </a:solidFill>
                <a:latin typeface="微软雅黑"/>
              </a:defRPr>
            </a:pPr>
            <a:r>
              <a:t>零开发基础 · 一个人 · 一个月 · 从想法到上线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3474720"/>
            <a:ext cx="5212080" cy="502920"/>
          </a:xfrm>
          <a:prstGeom prst="roundRect">
            <a:avLst/>
          </a:prstGeom>
          <a:solidFill>
            <a:srgbClr val="1A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349300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4AF6C"/>
                </a:solidFill>
                <a:latin typeface="微软雅黑"/>
              </a:defRPr>
            </a:pPr>
            <a:r>
              <a:t>需求方即产品经理 — 业务专家直接"写"出系统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4960" y="4297680"/>
            <a:ext cx="1371600" cy="12700"/>
          </a:xfrm>
          <a:prstGeom prst="rect">
            <a:avLst/>
          </a:prstGeom>
          <a:solidFill>
            <a:srgbClr val="D4A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46634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D4AF6C"/>
                </a:solidFill>
                <a:latin typeface="Arial"/>
              </a:defRPr>
            </a:pPr>
            <a:r>
              <a:t>142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候选人已入库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6634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D4AF6C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招聘专员在用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46634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D4AF6C"/>
                </a:solidFill>
                <a:latin typeface="Arial"/>
              </a:defRPr>
            </a:pPr>
            <a: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已上线运行中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B89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8944C"/>
                </a:solidFill>
                <a:latin typeface="Arial"/>
              </a:defRPr>
            </a:pPr>
            <a:r>
              <a:t>01 / 成本分析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A1F3F"/>
                </a:solidFill>
                <a:latin typeface="微软雅黑"/>
              </a:defRPr>
            </a:pPr>
            <a:r>
              <a:t>做这样一套系统，市面上要花多少钱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97280" cy="38100"/>
          </a:xfrm>
          <a:prstGeom prst="rect">
            <a:avLst/>
          </a:prstGeom>
          <a:solidFill>
            <a:srgbClr val="B89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200400" cy="237744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494"/>
                </a:solidFill>
                <a:latin typeface="微软雅黑"/>
              </a:defRPr>
            </a:pPr>
            <a:r>
              <a:t>外包定制开发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1523F"/>
                </a:solidFill>
                <a:latin typeface="Arial"/>
              </a:defRPr>
            </a:pPr>
            <a:r>
              <a:t>¥15~30万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832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A8494"/>
                </a:solidFill>
                <a:latin typeface="微软雅黑"/>
              </a:defRPr>
            </a:pPr>
            <a:r>
              <a:t>一次性交付，后续改需求   另收费 ¥1,500~3,000/天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28800"/>
            <a:ext cx="3200400" cy="237744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494"/>
                </a:solidFill>
                <a:latin typeface="微软雅黑"/>
              </a:defRPr>
            </a:pPr>
            <a:r>
              <a:t>SaaS 订阅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651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1523F"/>
                </a:solidFill>
                <a:latin typeface="Arial"/>
              </a:defRPr>
            </a:pPr>
            <a:r>
              <a:t>¥6~15万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832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A8494"/>
                </a:solidFill>
                <a:latin typeface="微软雅黑"/>
              </a:defRPr>
            </a:pPr>
            <a:r>
              <a:t>每年都要付，功能固定   无法按业务定制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828800"/>
            <a:ext cx="3200400" cy="23774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494"/>
                </a:solidFill>
                <a:latin typeface="微软雅黑"/>
              </a:defRPr>
            </a:pPr>
            <a:r>
              <a:t>我们的方式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651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D7A3F"/>
                </a:solidFill>
                <a:latin typeface="Arial"/>
              </a:defRPr>
            </a:pPr>
            <a:r>
              <a:t>≈ ¥0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3832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A8494"/>
                </a:solidFill>
                <a:latin typeface="微软雅黑"/>
              </a:defRPr>
            </a:pPr>
            <a:r>
              <a:t>AI 辅助自主开发   零外包零采购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72000"/>
            <a:ext cx="10698480" cy="118872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70916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D7A3F"/>
                </a:solidFill>
                <a:latin typeface="微软雅黑"/>
              </a:defRPr>
            </a:pPr>
            <a:r>
              <a:t>省下至少 ¥15~30 万首次开发费，且每年省 ¥6~15 万订阅费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475"/>
                </a:solidFill>
                <a:latin typeface="微软雅黑"/>
              </a:defRPr>
            </a:pPr>
            <a:r>
              <a:t>后期运维仅需云服务：约 ¥200~500/月（托管 + AI调用 + 存储）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475"/>
                </a:solidFill>
                <a:latin typeface="微软雅黑"/>
              </a:defRPr>
            </a:pPr>
            <a:r>
              <a:t>对比外包运维报价 ¥2,000~5,000/月，每年再省 ¥2~5 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B89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8944C"/>
                </a:solidFill>
                <a:latin typeface="Arial"/>
              </a:defRPr>
            </a:pPr>
            <a:r>
              <a:t>02 / 怎么做到的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A1F3F"/>
                </a:solidFill>
                <a:latin typeface="微软雅黑"/>
              </a:defRPr>
            </a:pPr>
            <a:r>
              <a:t>零编程基础，如何一个人把系统做出来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97280" cy="38100"/>
          </a:xfrm>
          <a:prstGeom prst="rect">
            <a:avLst/>
          </a:prstGeom>
          <a:solidFill>
            <a:srgbClr val="B89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38100" cy="914400"/>
          </a:xfrm>
          <a:prstGeom prst="rect">
            <a:avLst/>
          </a:prstGeom>
          <a:solidFill>
            <a:srgbClr val="B89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920240"/>
            <a:ext cx="7132320" cy="9144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B8944C"/>
                </a:solidFill>
                <a:latin typeface="Arial"/>
              </a:defRPr>
            </a:pPr>
            <a:r>
              <a:t>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9339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A1F3F"/>
                </a:solidFill>
                <a:latin typeface="微软雅黑"/>
              </a:defRPr>
            </a:pPr>
            <a:r>
              <a:t>项目规划书，迭代打磨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494"/>
                </a:solidFill>
                <a:latin typeface="微软雅黑"/>
              </a:defRPr>
            </a:pPr>
            <a:r>
              <a:t>先画清楚"系统要做什么"——数据怎么存、流程怎么走、权限怎么分。不是写代码，是画蓝图。反复推翻重来，直到图纸上没有逻辑漏洞。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017520"/>
            <a:ext cx="38100" cy="914400"/>
          </a:xfrm>
          <a:prstGeom prst="rect">
            <a:avLst/>
          </a:prstGeom>
          <a:solidFill>
            <a:srgbClr val="B89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017520"/>
            <a:ext cx="7132320" cy="9144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10896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B8944C"/>
                </a:solidFill>
                <a:latin typeface="Arial"/>
              </a:defRPr>
            </a:pPr>
            <a:r>
              <a:t>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906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A1F3F"/>
                </a:solidFill>
                <a:latin typeface="微软雅黑"/>
              </a:defRPr>
            </a:pPr>
            <a:r>
              <a:t>AI 编程助手（Claude Code）执行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29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494"/>
                </a:solidFill>
                <a:latin typeface="微软雅黑"/>
              </a:defRPr>
            </a:pPr>
            <a:r>
              <a:t>把规划书交给 AI，它来写代码。业务专家负责审——对不对、好不好用、逻辑通不通——AI 负责改。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38100" cy="914400"/>
          </a:xfrm>
          <a:prstGeom prst="rect">
            <a:avLst/>
          </a:prstGeom>
          <a:solidFill>
            <a:srgbClr val="B89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114800"/>
            <a:ext cx="7132320" cy="9144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2062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B8944C"/>
                </a:solidFill>
                <a:latin typeface="Arial"/>
              </a:defRPr>
            </a:pPr>
            <a:r>
              <a:t>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18795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A1F3F"/>
                </a:solidFill>
                <a:latin typeface="微软雅黑"/>
              </a:defRPr>
            </a:pPr>
            <a:r>
              <a:t>对话即开发，反馈即迭代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262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494"/>
                </a:solidFill>
                <a:latin typeface="微软雅黑"/>
              </a:defRPr>
            </a:pPr>
            <a:r>
              <a:t>"这里数据不对"→ AI 查数据库定位 → 修复 → 验证。整个过程是人机对话，不需要写一行代码。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212080"/>
            <a:ext cx="38100" cy="914400"/>
          </a:xfrm>
          <a:prstGeom prst="rect">
            <a:avLst/>
          </a:prstGeom>
          <a:solidFill>
            <a:srgbClr val="B89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5212080"/>
            <a:ext cx="7132320" cy="9144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30352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B8944C"/>
                </a:solidFill>
                <a:latin typeface="Arial"/>
              </a:defRPr>
            </a:pPr>
            <a:r>
              <a:t>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2852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A1F3F"/>
                </a:solidFill>
                <a:latin typeface="微软雅黑"/>
              </a:defRPr>
            </a:pPr>
            <a:r>
              <a:t>上线，持续优化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62356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494"/>
                </a:solidFill>
                <a:latin typeface="微软雅黑"/>
              </a:defRPr>
            </a:pPr>
            <a:r>
              <a:t>系统部署到云端，专员开始用。发现问题→反馈→修复，迭代周期以小时计，不是周。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1920240"/>
            <a:ext cx="3200400" cy="4434840"/>
          </a:xfrm>
          <a:prstGeom prst="rect">
            <a:avLst/>
          </a:prstGeom>
          <a:solidFill>
            <a:srgbClr val="0A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24688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64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D4AF6C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行代码亲手写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92640" y="4023360"/>
            <a:ext cx="640080" cy="12700"/>
          </a:xfrm>
          <a:prstGeom prst="rect">
            <a:avLst/>
          </a:prstGeom>
          <a:solidFill>
            <a:srgbClr val="D4A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429768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真正的含金量不在代码里</a:t>
            </a:r>
            <a:br/>
            <a:br/>
            <a:r>
              <a:t>而在于：</a:t>
            </a:r>
            <a:br/>
            <a:r>
              <a:t>· 把业务经验变成系统设计</a:t>
            </a:r>
            <a:br/>
            <a:r>
              <a:t>· 知道什么是对的，什么是错的</a:t>
            </a:r>
            <a:br/>
            <a:r>
              <a:t>· 能持续对话、持续调整</a:t>
            </a:r>
            <a:br/>
            <a:br/>
            <a:r>
              <a:t>这不是买来的标准化产品</a:t>
            </a:r>
            <a:br/>
            <a:r>
              <a:t>这是业务 know-how 的数字化沉淀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B89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8944C"/>
                </a:solidFill>
                <a:latin typeface="Arial"/>
              </a:defRPr>
            </a:pPr>
            <a:r>
              <a:t>03 / 系统功能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A1F3F"/>
                </a:solidFill>
                <a:latin typeface="微软雅黑"/>
              </a:defRPr>
            </a:pPr>
            <a:r>
              <a:t>目前能做什么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97280" cy="38100"/>
          </a:xfrm>
          <a:prstGeom prst="rect">
            <a:avLst/>
          </a:prstGeom>
          <a:solidFill>
            <a:srgbClr val="B89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291840" cy="1828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291840" cy="5080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A1F3F"/>
                </a:solidFill>
                <a:latin typeface="微软雅黑"/>
              </a:defRPr>
            </a:pPr>
            <a:r>
              <a:t>📬 邮箱自动收简历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60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475"/>
                </a:solidFill>
                <a:latin typeface="微软雅黑"/>
              </a:defRPr>
            </a:pPr>
            <a:r>
              <a:t>绑定招聘邮箱后定时扫描，简历附件自动入库，支持BOSS直聘、智联等平台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828800"/>
            <a:ext cx="3291840" cy="1828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828800"/>
            <a:ext cx="3291840" cy="50800"/>
          </a:xfrm>
          <a:prstGeom prst="rect">
            <a:avLst/>
          </a:prstGeom>
          <a:solidFill>
            <a:srgbClr val="B89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1031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A1F3F"/>
                </a:solidFill>
                <a:latin typeface="微软雅黑"/>
              </a:defRPr>
            </a:pPr>
            <a:r>
              <a:t>🤖 AI 自动解析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560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475"/>
                </a:solidFill>
                <a:latin typeface="微软雅黑"/>
              </a:defRPr>
            </a:pPr>
            <a:r>
              <a:t>上传即自动提取姓名、学历、经历等关键信息，支持 PDF/Word/图片，准确率 &gt;95%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828800"/>
            <a:ext cx="3291840" cy="1828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1828800"/>
            <a:ext cx="3291840" cy="5080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21031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A1F3F"/>
                </a:solidFill>
                <a:latin typeface="微软雅黑"/>
              </a:defRPr>
            </a:pPr>
            <a:r>
              <a:t>📋 流程看板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560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475"/>
                </a:solidFill>
                <a:latin typeface="微软雅黑"/>
              </a:defRPr>
            </a:pPr>
            <a:r>
              <a:t>筛选→初试→复试→终试→入职，拖拽流转，每个候选人进度一目了然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931920"/>
            <a:ext cx="3291840" cy="1828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931920"/>
            <a:ext cx="3291840" cy="50800"/>
          </a:xfrm>
          <a:prstGeom prst="rect">
            <a:avLst/>
          </a:prstGeom>
          <a:solidFill>
            <a:srgbClr val="E0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2062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A1F3F"/>
                </a:solidFill>
                <a:latin typeface="微软雅黑"/>
              </a:defRPr>
            </a:pPr>
            <a:r>
              <a:t>📊 数据报表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6634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475"/>
                </a:solidFill>
                <a:latin typeface="微软雅黑"/>
              </a:defRPr>
            </a:pPr>
            <a:r>
              <a:t>部门招聘进度、渠道转化效果、周期趋势，图表自动生成，一键导出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3931920"/>
            <a:ext cx="3291840" cy="1828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3931920"/>
            <a:ext cx="3291840" cy="5080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42062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A1F3F"/>
                </a:solidFill>
                <a:latin typeface="微软雅黑"/>
              </a:defRPr>
            </a:pPr>
            <a:r>
              <a:t>💬 AI 招聘助手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6634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475"/>
                </a:solidFill>
                <a:latin typeface="微软雅黑"/>
              </a:defRPr>
            </a:pPr>
            <a:r>
              <a:t>基于公司知识库和历史数据，提供候选人匹配建议和招聘策略咨询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3931920"/>
            <a:ext cx="3291840" cy="1828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0" y="3931920"/>
            <a:ext cx="3291840" cy="50800"/>
          </a:xfrm>
          <a:prstGeom prst="rect">
            <a:avLst/>
          </a:prstGeom>
          <a:solidFill>
            <a:srgbClr val="3B8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42062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A1F3F"/>
                </a:solidFill>
                <a:latin typeface="微软雅黑"/>
              </a:defRPr>
            </a:pPr>
            <a:r>
              <a:t>⚙️ 权限与安全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46634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475"/>
                </a:solidFill>
                <a:latin typeface="微软雅黑"/>
              </a:defRPr>
            </a:pPr>
            <a:r>
              <a:t>分级权限、操作全留痕、每日自动备份、回收站防误删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B89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8944C"/>
                </a:solidFill>
                <a:latin typeface="Arial"/>
              </a:defRPr>
            </a:pPr>
            <a:r>
              <a:t>04 / 开发历程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A1F3F"/>
                </a:solidFill>
                <a:latin typeface="微软雅黑"/>
              </a:defRPr>
            </a:pPr>
            <a:r>
              <a:t>一个月内做了什么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97280" cy="38100"/>
          </a:xfrm>
          <a:prstGeom prst="rect">
            <a:avLst/>
          </a:prstGeom>
          <a:solidFill>
            <a:srgbClr val="B89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468880" cy="146304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A1F3F"/>
                </a:solidFill>
                <a:latin typeface="Arial"/>
              </a:defRPr>
            </a:pPr>
            <a:r>
              <a:t>151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494"/>
                </a:solidFill>
                <a:latin typeface="微软雅黑"/>
              </a:defRPr>
            </a:pPr>
            <a:r>
              <a:t>版本迭代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468880" cy="146304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965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B8944C"/>
                </a:solidFill>
                <a:latin typeface="Arial"/>
              </a:defRPr>
            </a:pPr>
            <a:r>
              <a:t>253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788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494"/>
                </a:solidFill>
                <a:latin typeface="微软雅黑"/>
              </a:defRPr>
            </a:pPr>
            <a:r>
              <a:t>需求与问题闭环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468880" cy="146304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965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A1F3F"/>
                </a:solidFill>
                <a:latin typeface="Arial"/>
              </a:defRPr>
            </a:pPr>
            <a:r>
              <a:t>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788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494"/>
                </a:solidFill>
                <a:latin typeface="微软雅黑"/>
              </a:defRPr>
            </a:pPr>
            <a:r>
              <a:t>安全隐患修复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828800"/>
            <a:ext cx="2468880" cy="146304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965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B8944C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88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494"/>
                </a:solidFill>
                <a:latin typeface="微软雅黑"/>
              </a:defRPr>
            </a:pPr>
            <a:r>
              <a:t>数据丢失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3794760"/>
            <a:ext cx="9784080" cy="25400"/>
          </a:xfrm>
          <a:prstGeom prst="rect">
            <a:avLst/>
          </a:prstGeom>
          <a:solidFill>
            <a:srgbClr val="D8D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45920" y="3703320"/>
            <a:ext cx="201168" cy="201168"/>
          </a:xfrm>
          <a:prstGeom prst="ellipse">
            <a:avLst/>
          </a:prstGeom>
          <a:solidFill>
            <a:srgbClr val="B89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0233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B8944C"/>
                </a:solidFill>
                <a:latin typeface="Arial"/>
              </a:defRPr>
            </a:pPr>
            <a:r>
              <a:t>6月上旬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51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A1F3F"/>
                </a:solidFill>
                <a:latin typeface="微软雅黑"/>
              </a:defRPr>
            </a:pPr>
            <a:r>
              <a:t>方案设计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26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A8494"/>
                </a:solidFill>
                <a:latin typeface="微软雅黑"/>
              </a:defRPr>
            </a:pPr>
            <a:r>
              <a:t>梳理业务流程</a:t>
            </a:r>
            <a:br/>
            <a:r>
              <a:t>确定系统框架</a:t>
            </a:r>
          </a:p>
        </p:txBody>
      </p:sp>
      <p:sp>
        <p:nvSpPr>
          <p:cNvPr id="24" name="Oval 23"/>
          <p:cNvSpPr/>
          <p:nvPr/>
        </p:nvSpPr>
        <p:spPr>
          <a:xfrm>
            <a:off x="4114800" y="3703320"/>
            <a:ext cx="201168" cy="201168"/>
          </a:xfrm>
          <a:prstGeom prst="ellipse">
            <a:avLst/>
          </a:prstGeom>
          <a:solidFill>
            <a:srgbClr val="B89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40233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B8944C"/>
                </a:solidFill>
                <a:latin typeface="Arial"/>
              </a:defRPr>
            </a:pPr>
            <a:r>
              <a:t>6月中旬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251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A1F3F"/>
                </a:solidFill>
                <a:latin typeface="微软雅黑"/>
              </a:defRPr>
            </a:pPr>
            <a:r>
              <a:t>核心功能开发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526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A8494"/>
                </a:solidFill>
                <a:latin typeface="微软雅黑"/>
              </a:defRPr>
            </a:pPr>
            <a:r>
              <a:t>简历解析 · 邮箱归集</a:t>
            </a:r>
            <a:br/>
            <a:r>
              <a:t>流程看板 · 数据报表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3703320"/>
            <a:ext cx="201168" cy="201168"/>
          </a:xfrm>
          <a:prstGeom prst="ellipse">
            <a:avLst/>
          </a:prstGeom>
          <a:solidFill>
            <a:srgbClr val="B89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40233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B8944C"/>
                </a:solidFill>
                <a:latin typeface="Arial"/>
              </a:defRPr>
            </a:pPr>
            <a:r>
              <a:t>6月下旬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4251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A1F3F"/>
                </a:solidFill>
                <a:latin typeface="微软雅黑"/>
              </a:defRPr>
            </a:pPr>
            <a:r>
              <a:t>安全 + 完善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526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A8494"/>
                </a:solidFill>
                <a:latin typeface="微软雅黑"/>
              </a:defRPr>
            </a:pPr>
            <a:r>
              <a:t>权限审计 · 隐私合规</a:t>
            </a:r>
            <a:br/>
            <a:r>
              <a:t>AI助手 · 回收站</a:t>
            </a:r>
          </a:p>
        </p:txBody>
      </p:sp>
      <p:sp>
        <p:nvSpPr>
          <p:cNvPr id="32" name="Oval 31"/>
          <p:cNvSpPr/>
          <p:nvPr/>
        </p:nvSpPr>
        <p:spPr>
          <a:xfrm>
            <a:off x="9052560" y="3703320"/>
            <a:ext cx="201168" cy="201168"/>
          </a:xfrm>
          <a:prstGeom prst="ellipse">
            <a:avLst/>
          </a:prstGeom>
          <a:solidFill>
            <a:srgbClr val="B89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40233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B8944C"/>
                </a:solidFill>
                <a:latin typeface="Arial"/>
              </a:defRPr>
            </a:pPr>
            <a:r>
              <a:t>7月 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251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A1F3F"/>
                </a:solidFill>
                <a:latin typeface="微软雅黑"/>
              </a:defRPr>
            </a:pPr>
            <a:r>
              <a:t>上线运营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526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A8494"/>
                </a:solidFill>
                <a:latin typeface="微软雅黑"/>
              </a:defRPr>
            </a:pPr>
            <a:r>
              <a:t>日常使用保障</a:t>
            </a:r>
            <a:br/>
            <a:r>
              <a:t>按需迭代优化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74720" y="5303520"/>
            <a:ext cx="5212080" cy="411480"/>
          </a:xfrm>
          <a:prstGeom prst="roundRect">
            <a:avLst/>
          </a:prstGeom>
          <a:solidFill>
            <a:srgbClr val="0A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0" y="5349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4AF6C"/>
                </a:solidFill>
                <a:latin typeface="微软雅黑"/>
              </a:defRPr>
            </a:pPr>
            <a:r>
              <a:t>🎯 需求方 = 产品经理：不需要翻译需求，不需要等排期，想到就做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B89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B8944C"/>
                </a:solidFill>
                <a:latin typeface="Arial"/>
              </a:defRPr>
            </a:pPr>
            <a:r>
              <a:t>05 / 现状与展望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A1F3F"/>
                </a:solidFill>
                <a:latin typeface="微软雅黑"/>
              </a:defRPr>
            </a:pPr>
            <a:r>
              <a:t>已完成 &amp; 下一步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97280" cy="38100"/>
          </a:xfrm>
          <a:prstGeom prst="rect">
            <a:avLst/>
          </a:prstGeom>
          <a:solidFill>
            <a:srgbClr val="B89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2194560"/>
            <a:ext cx="91440" cy="91440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1305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A1F3F"/>
                </a:solidFill>
                <a:latin typeface="微软雅黑"/>
              </a:defRPr>
            </a:pPr>
            <a:r>
              <a:t>已上线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51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475"/>
                </a:solidFill>
                <a:latin typeface="微软雅黑"/>
              </a:defRPr>
            </a:pPr>
            <a:r>
              <a:t>✓  简历自动收录 + AI 解析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9992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475"/>
                </a:solidFill>
                <a:latin typeface="微软雅黑"/>
              </a:defRPr>
            </a:pPr>
            <a:r>
              <a:t>✓  候选人流程看板（拖拽）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4670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475"/>
                </a:solidFill>
                <a:latin typeface="微软雅黑"/>
              </a:defRPr>
            </a:pPr>
            <a:r>
              <a:t>✓  数据分析报表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69417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475"/>
                </a:solidFill>
                <a:latin typeface="微软雅黑"/>
              </a:defRPr>
            </a:pPr>
            <a:r>
              <a:t>✓  招聘需求申请与审批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0416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475"/>
                </a:solidFill>
                <a:latin typeface="微软雅黑"/>
              </a:defRPr>
            </a:pPr>
            <a:r>
              <a:t>✓  AI 招聘助手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389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475"/>
                </a:solidFill>
                <a:latin typeface="微软雅黑"/>
              </a:defRPr>
            </a:pPr>
            <a:r>
              <a:t>✓  权限管理 · 操作留痕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7365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475"/>
                </a:solidFill>
                <a:latin typeface="微软雅黑"/>
              </a:defRPr>
            </a:pPr>
            <a:r>
              <a:t>✓  回收站 · 每日备份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0840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475"/>
                </a:solidFill>
                <a:latin typeface="微软雅黑"/>
              </a:defRPr>
            </a:pPr>
            <a:r>
              <a:t>✓  手机端可用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828800"/>
            <a:ext cx="5120640" cy="4114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92240" y="2194560"/>
            <a:ext cx="91440" cy="91440"/>
          </a:xfrm>
          <a:prstGeom prst="ellipse">
            <a:avLst/>
          </a:prstGeom>
          <a:solidFill>
            <a:srgbClr val="B89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1305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A1F3F"/>
                </a:solidFill>
                <a:latin typeface="微软雅黑"/>
              </a:defRPr>
            </a:pPr>
            <a:r>
              <a:t>下一阶段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651760"/>
            <a:ext cx="25400" cy="59436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651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A3343"/>
                </a:solidFill>
                <a:latin typeface="微软雅黑"/>
              </a:defRPr>
            </a:pPr>
            <a:r>
              <a:t>异常监控告警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494"/>
                </a:solidFill>
                <a:latin typeface="微软雅黑"/>
              </a:defRPr>
            </a:pPr>
            <a:r>
              <a:t>简历入库失败自动通知，第一时间处理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3429000"/>
            <a:ext cx="25400" cy="59436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429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A3343"/>
                </a:solidFill>
                <a:latin typeface="微软雅黑"/>
              </a:defRPr>
            </a:pPr>
            <a:r>
              <a:t>手机端体验优化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703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494"/>
                </a:solidFill>
                <a:latin typeface="微软雅黑"/>
              </a:defRPr>
            </a:pPr>
            <a:r>
              <a:t>移动审批、手机看简历更流畅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4206240"/>
            <a:ext cx="25400" cy="594360"/>
          </a:xfrm>
          <a:prstGeom prst="rect">
            <a:avLst/>
          </a:prstGeom>
          <a:solidFill>
            <a:srgbClr val="D8D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206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A8494"/>
                </a:solidFill>
                <a:latin typeface="微软雅黑"/>
              </a:defRPr>
            </a:pPr>
            <a:r>
              <a:t>候选人智能推荐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480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AAAAA"/>
                </a:solidFill>
                <a:latin typeface="微软雅黑"/>
              </a:defRPr>
            </a:pPr>
            <a:r>
              <a:t>岗位与候选人自动匹配评分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4983480"/>
            <a:ext cx="25400" cy="594360"/>
          </a:xfrm>
          <a:prstGeom prst="rect">
            <a:avLst/>
          </a:prstGeom>
          <a:solidFill>
            <a:srgbClr val="D8D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983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A8494"/>
                </a:solidFill>
                <a:latin typeface="微软雅黑"/>
              </a:defRPr>
            </a:pPr>
            <a:r>
              <a:t>用人部门协作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257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AAAAA"/>
                </a:solidFill>
                <a:latin typeface="微软雅黑"/>
              </a:defRPr>
            </a:pPr>
            <a:r>
              <a:t>部门负责人直接查看进度、反馈面试意见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